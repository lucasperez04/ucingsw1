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 ·  UNIDAD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 la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software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3434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y formalidad · Separación de intereses · Modularidad · Abstracción · Anticipación al cambio · Generalidad · Incrementalidad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921240" y="868680"/>
            <a:ext cx="1371600" cy="1371600"/>
          </a:xfrm>
          <a:prstGeom prst="ellipse">
            <a:avLst/>
          </a:prstGeom>
          <a:solidFill>
            <a:srgbClr val="16215C"/>
          </a:solidFill>
          <a:ln/>
        </p:spPr>
      </p:sp>
      <p:pic>
        <p:nvPicPr>
          <p:cNvPr id="6" name="Image 0" descr="/home/claude/unidad3/icons/icon_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105156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Cátedra de Ingeniería de Software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Contenidos de la unidad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unidad3/icons/icon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0482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93852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y formalidad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61872" y="221284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disciplinada y notaciones precisas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70168" y="1965960"/>
            <a:ext cx="457200" cy="4572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9" name="Image 1" descr="/home/claude/unidad3/icons/icon_separa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464" y="204825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1960" y="193852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intereses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991960" y="221284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el problema en aspectos independientes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unidad3/icons/icon_modularid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09981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299008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Modularidad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61872" y="326440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con función clara e interfaces precisas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70168" y="3017520"/>
            <a:ext cx="457200" cy="4572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7" name="Image 3" descr="/home/claude/unidad3/icons/icon_abstracc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464" y="309981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1960" y="299008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991960" y="326440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Quedarse con lo esencial de cada nivel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unidad3/icons/icon_anticipac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4151376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61872" y="404164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Anticipación al cambio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261872" y="431596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previendo la evolución del software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370168" y="4069080"/>
            <a:ext cx="457200" cy="4572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25" name="Image 5" descr="/home/claude/unidad3/icons/icon_generalid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464" y="4151376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91960" y="404164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991960" y="431596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reutilizables para casos relacionados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6" descr="/home/claude/unidad3/icons/icon_incrementalida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5202936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61872" y="509320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Incrementalidad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1261872" y="536752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y entregar en versiones sucesivas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hablar de “principios”?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principio no es una técnica ni una herramienta: es un criterio general que orienta las decisiones de diseño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aplican en toda actividad de la ingeniería de software, sin importar el lenguaje, la metodología o el dominio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garantizan por sí solos un buen resultado, pero su ausencia casi siempre explica un mal diseño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siete principios de esta unidad son transversales: aparecen una y otra vez en el resto del curso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52360" y="1874520"/>
            <a:ext cx="4069080" cy="4114800"/>
          </a:xfrm>
          <a:prstGeom prst="roundRect">
            <a:avLst>
              <a:gd name="adj" fmla="val 2697"/>
            </a:avLst>
          </a:prstGeom>
          <a:solidFill>
            <a:srgbClr val="EFF1F6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2057400"/>
            <a:ext cx="777240" cy="7772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7" name="Image 0" descr="/home/claude/unidad3/icons/icon_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56" y="218541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944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255264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principios son el “por qué” detrás de las técnicas concretas de diseño y especificación que se estudian más adelante en el curso.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RIGOR Y FORMALIDAD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actitud cuidadosa y sistemática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rigor es una actitud disciplinada frente a cada tarea del desarrollo, no una técnica puntual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formalidad va un paso más allá: usa notaciones con base matemática, sin ambigüedad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debe formalizarse por completo: se aplica con más fuerza donde el costo de un error es alto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reducen la dependencia de la intuición y facilitan la verificación del trabajo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52360" y="1874520"/>
            <a:ext cx="4069080" cy="4114800"/>
          </a:xfrm>
          <a:prstGeom prst="roundRect">
            <a:avLst>
              <a:gd name="adj" fmla="val 2697"/>
            </a:avLst>
          </a:prstGeom>
          <a:solidFill>
            <a:srgbClr val="EFF1F6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2057400"/>
            <a:ext cx="777240" cy="7772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7" name="Image 0" descr="/home/claude/unidad3/icons/icon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56" y="218541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944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255264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una interfaz con precondiciones y poscondiciones formales, en lugar de un comentario informal, evita malentendidos entre equipos que integran el mismo sistema.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SEPARACIÓN DE INTERESES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 el problema para dominarlo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 en abordar por separado los distintos aspectos (o “intereses”) de un problema complejo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carga cognitiva: nadie necesita entender el sistema completo para trabajar en una parte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en el tiempo (fases del desarrollo) y en el espacio (componentes del sistema)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conceptual de la modularidad y de muchos patrones de arquitectura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52360" y="1874520"/>
            <a:ext cx="4069080" cy="4114800"/>
          </a:xfrm>
          <a:prstGeom prst="roundRect">
            <a:avLst>
              <a:gd name="adj" fmla="val 2697"/>
            </a:avLst>
          </a:prstGeom>
          <a:solidFill>
            <a:srgbClr val="EFF1F6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2057400"/>
            <a:ext cx="777240" cy="7772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7" name="Image 0" descr="/home/claude/unidad3/icons/icon_separ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56" y="218541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944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255264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la lógica de negocio de la interfaz gráfica permite rediseñar la pantalla de una aplicación sin tocar las reglas que calculan precios o descuentos.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SEPARACIÓN DE INTERESES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aplicado: sistema de e-commerce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unidad3/icons/icon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211043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984248"/>
            <a:ext cx="88267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53312" y="2258568"/>
            <a:ext cx="88267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cliente navega el catálogo y arma su carrito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9" name="Image 1" descr="/home/claude/unidad3/icons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3070555"/>
            <a:ext cx="351130" cy="351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2944368"/>
            <a:ext cx="88267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53312" y="3218688"/>
            <a:ext cx="88267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precios, descuentos y control de stock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unidad3/icons/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403067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53312" y="3904488"/>
            <a:ext cx="88267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53312" y="4178808"/>
            <a:ext cx="88267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productos, pedidos y usuarios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892040"/>
            <a:ext cx="548640" cy="5486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7" name="Image 3" descr="/home/claude/unidad3/icons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4990795"/>
            <a:ext cx="351130" cy="3511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53312" y="4864608"/>
            <a:ext cx="88267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53312" y="5138928"/>
            <a:ext cx="88267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pagos y protección de datos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MODULARIDAD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Dividir el software en módulos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módulo agrupa responsabilidades relacionadas y oculta sus detalles internos tras una interfaz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 una modularización se mide por qué tan independientes son los módulos entre sí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el trabajo en equipo: distintos módulos pueden desarrollarse y probarse en paralelo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bien localizado en un módulo no debería propagarse al resto del sistema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52360" y="1874520"/>
            <a:ext cx="4069080" cy="4114800"/>
          </a:xfrm>
          <a:prstGeom prst="roundRect">
            <a:avLst>
              <a:gd name="adj" fmla="val 2697"/>
            </a:avLst>
          </a:prstGeom>
          <a:solidFill>
            <a:srgbClr val="EFF1F6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2057400"/>
            <a:ext cx="777240" cy="7772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7" name="Image 0" descr="/home/claude/unidad3/icons/icon_modular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56" y="218541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944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255264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aplicación bancaria, el módulo de transferencias puede modificarse internamente sin afectar al módulo que genera los reportes mensuales.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MODULARIDAD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Acoplamiento bajo, cohesión alta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81448" cy="3200400"/>
          </a:xfrm>
          <a:prstGeom prst="roundRect">
            <a:avLst>
              <a:gd name="adj" fmla="val 2286"/>
            </a:avLst>
          </a:prstGeom>
          <a:solidFill>
            <a:srgbClr val="EFF1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unidad3/icons/icon_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04288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acoplamiento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4632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dependen lo menos posible unos de otros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interno en un módulo no obliga a modificar otros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70168" y="1920240"/>
            <a:ext cx="5181448" cy="3200400"/>
          </a:xfrm>
          <a:prstGeom prst="roundRect">
            <a:avLst>
              <a:gd name="adj" fmla="val 2286"/>
            </a:avLst>
          </a:prstGeom>
          <a:solidFill>
            <a:srgbClr val="EF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6644488" y="2194560"/>
            <a:ext cx="685800" cy="6858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1" name="Image 1" descr="/home/claude/unidad3/icons/icon_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216" y="2304288"/>
            <a:ext cx="466344" cy="4663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44488" y="30175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cohesión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44488" y="3429000"/>
            <a:ext cx="4632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elementos dentro de un módulo están fuertemente relacionados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cumple un propósito único y bien definido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0080" y="5349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buena modularización combina ambos objetivos: poco depender entre módulos, mucho sentido dentro de cada uno.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ABSTRACCIÓN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Quedarse con lo esencial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los aspectos esenciales de un problema, dejando de lado los detalles irrelevantes para el nivel actual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manejar la complejidad enfocándose en “qué” hace algo antes que en “cómo” lo hace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de abstracción oculta los detalles del nivel inferior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de los tipos abstractos de datos, las interfaces y la programación orientada a objetos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52360" y="1874520"/>
            <a:ext cx="4069080" cy="4114800"/>
          </a:xfrm>
          <a:prstGeom prst="roundRect">
            <a:avLst>
              <a:gd name="adj" fmla="val 2697"/>
            </a:avLst>
          </a:prstGeom>
          <a:solidFill>
            <a:srgbClr val="EFF1F6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2057400"/>
            <a:ext cx="777240" cy="7772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7" name="Image 0" descr="/home/claude/unidad3/icons/icon_abstrac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56" y="218541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944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255264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puede usar una lista de elementos sin saber si, por dentro, está implementada como un arreglo o como una lista enlazada.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ABSTRACCIÓN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todos los niveles ven lo mismo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619695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Negocio / Requisitos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problema resuelve el sistema para el usuario, sin detalles técnicos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1F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/ Arquitectura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organizan los componentes del sistema y cómo interactúan entre sí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1F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Implementación / Código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Instrucciones concretas, escritas en un lenguaje de programación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1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ANTICIPACIÓN AL CAMBIO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Diseñar pensando en el futuro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rara vez es estático: cambian los requisitos, la tecnología y el contexto de uso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el cambio implica identificar qué partes del sistema son más volátiles y aislarlas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apoya directamente en la modularidad y la separación de intereses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no es predecir todos los cambios, sino reducir el costo de los más probables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52360" y="1874520"/>
            <a:ext cx="4069080" cy="4114800"/>
          </a:xfrm>
          <a:prstGeom prst="roundRect">
            <a:avLst>
              <a:gd name="adj" fmla="val 2697"/>
            </a:avLst>
          </a:prstGeom>
          <a:solidFill>
            <a:srgbClr val="EFF1F6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2057400"/>
            <a:ext cx="777240" cy="7772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7" name="Image 0" descr="/home/claude/unidad3/icons/icon_anticip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56" y="218541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944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255264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Aislar el acceso a la base de datos detrás de una interfaz permite cambiar de motor de base de datos sin reescribir el resto del sistema.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GENERALIDAD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 más de lo estrictamente pedido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resolver un problema, conviene buscar una solución más general que cubra casos relacionados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solución general se reutiliza en distintos contextos sin rehacer el diseño desde cero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equilibrarse con la simplicidad: generalizar de más agrega complejidad innecesaria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refleja en bibliotecas, componentes reutilizables y patrones de diseño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52360" y="1874520"/>
            <a:ext cx="4069080" cy="4114800"/>
          </a:xfrm>
          <a:prstGeom prst="roundRect">
            <a:avLst>
              <a:gd name="adj" fmla="val 2697"/>
            </a:avLst>
          </a:prstGeom>
          <a:solidFill>
            <a:srgbClr val="EFF1F6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2057400"/>
            <a:ext cx="777240" cy="7772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7" name="Image 0" descr="/home/claude/unidad3/icons/icon_general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56" y="218541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944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255264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de ordenamiento que acepta un criterio de comparación sirve para ordenar cualquier tipo de dato, no solo números.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INCREMENTALIDAD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por partes, entregar seguido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 en construir y entregar el software en versiones sucesivas, cada una sobre la anterior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obtener retroalimentación temprana antes de completar todo el sistema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riesgo: los errores se detectan y corrigen en incrementos pequeños, no al final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de los procesos de desarrollo iterativo e incremental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52360" y="1874520"/>
            <a:ext cx="4069080" cy="4114800"/>
          </a:xfrm>
          <a:prstGeom prst="roundRect">
            <a:avLst>
              <a:gd name="adj" fmla="val 2697"/>
            </a:avLst>
          </a:prstGeom>
          <a:solidFill>
            <a:srgbClr val="EFF1F6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2057400"/>
            <a:ext cx="777240" cy="7772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7" name="Image 0" descr="/home/claude/unidad3/icons/icon_incremental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56" y="218541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944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255264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primero un sistema de pedidos con las funciones básicas, y sumar en incrementos posteriores el pago en línea y el seguimiento de envíos.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PARCIAL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principios se refuerzan entre sí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de intereses facilita la modularidad, y la modularidad hace posible la abstracción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rigor y la formalidad reducen el riesgo al aplicar cualquiera de los demás principios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el cambio y buscar generalidad son formas de invertir hoy para reducir costos futuros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incrementalidad permite aplicarlos todos de forma progresiva, sin exigir la solución perfecta desde el inicio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52360" y="1874520"/>
            <a:ext cx="4069080" cy="4114800"/>
          </a:xfrm>
          <a:prstGeom prst="roundRect">
            <a:avLst>
              <a:gd name="adj" fmla="val 2697"/>
            </a:avLst>
          </a:prstGeom>
          <a:solidFill>
            <a:srgbClr val="EFF1F6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2057400"/>
            <a:ext cx="777240" cy="77724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7" name="Image 0" descr="/home/claude/unidad3/icons/icon_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56" y="218541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944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255264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principio sustituye a los demás: un buen diseño de software surge de aplicarlos en conjunto, con criterio y según el contexto.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de la Unidad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unidad3/icons/icon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0025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89280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y formalidad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61872" y="216712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cuidadosa, notaciones sin ambigüedad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70168" y="1920240"/>
            <a:ext cx="457200" cy="4572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9" name="Image 1" descr="/home/claude/unidad3/icons/icon_separa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464" y="200253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1960" y="189280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intereses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991960" y="216712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aspecto del problema a la vez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unidad3/icons/icon_modularid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0540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294436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Modularidad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61872" y="321868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acoplamiento, alta cohesión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70168" y="2971800"/>
            <a:ext cx="457200" cy="4572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17" name="Image 3" descr="/home/claude/unidad3/icons/icon_abstracc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464" y="305409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1960" y="294436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991960" y="321868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qué antes que el cómo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unidad3/icons/icon_anticipac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4105656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61872" y="399592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Anticipación al cambio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261872" y="427024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Aislar lo que más va a cambiar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370168" y="4023360"/>
            <a:ext cx="457200" cy="457200"/>
          </a:xfrm>
          <a:prstGeom prst="ellipse">
            <a:avLst/>
          </a:prstGeom>
          <a:solidFill>
            <a:srgbClr val="8C1D18"/>
          </a:solidFill>
          <a:ln/>
        </p:spPr>
      </p:sp>
      <p:pic>
        <p:nvPicPr>
          <p:cNvPr id="25" name="Image 5" descr="/home/claude/unidad3/icons/icon_generalid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464" y="4105656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91960" y="399592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991960" y="427024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reutilizables, sin exagerar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6" descr="/home/claude/unidad3/icons/icon_incrementalida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5157216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61872" y="5047488"/>
            <a:ext cx="455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Incrementalidad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1261872" y="5321808"/>
            <a:ext cx="455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por partes, aprender rápido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 DE ESTOS CONCEPTOS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Estas ideas hoy: SOLID y arquitectura limpia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 clásica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181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y formalidad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Modularidad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Generalidad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70168" y="1965960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y prácticas actuales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70168" y="2377440"/>
            <a:ext cx="5181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SOLID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limpia (Clean Architecture)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diseño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y microservicios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10911535" cy="1600200"/>
          </a:xfrm>
          <a:prstGeom prst="roundRect">
            <a:avLst>
              <a:gd name="adj" fmla="val 4571"/>
            </a:avLst>
          </a:prstGeom>
          <a:solidFill>
            <a:srgbClr val="EFF1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CAMBIÓ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80060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nombres y las herramientas evolucionan, pero los principios que sostienen un buen diseño de software siguen siendo, en esencia, los mismos que formuló la ingeniería de software desde sus orígenes.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1 · Unidad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unidad3/icons/icon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9601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 de la unidad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26060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Ghezzi, C.; Mandrioli, D.; Jazayeri, M. — Fundamentals of Software Engineering (2.ª ed.), Prentice Hall, 2003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Sommerville, I. — Software Engineering, Addison-Wesley, 1992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unidad: Diseño del software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2026-09-07T11:32:41Z</dcterms:created>
  <dcterms:modified xsi:type="dcterms:W3CDTF">2026-09-07T11:32:41Z</dcterms:modified>
</cp:coreProperties>
</file>